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Garamond" panose="02020404030301010803" pitchFamily="18" charset="0"/>
      <p:regular r:id="rId18"/>
      <p:bold r:id="rId19"/>
      <p:italic r:id="rId20"/>
    </p:embeddedFont>
    <p:embeddedFont>
      <p:font typeface="Garamond Bold" panose="02020804030307010803" pitchFamily="18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loveimg.com/id/kompres-gamba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8360" y="-278917"/>
            <a:ext cx="1437060" cy="10844833"/>
            <a:chOff x="0" y="0"/>
            <a:chExt cx="378485" cy="2856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8485" cy="2856252"/>
            </a:xfrm>
            <a:custGeom>
              <a:avLst/>
              <a:gdLst/>
              <a:ahLst/>
              <a:cxnLst/>
              <a:rect l="l" t="t" r="r" b="b"/>
              <a:pathLst>
                <a:path w="378485" h="2856252">
                  <a:moveTo>
                    <a:pt x="0" y="0"/>
                  </a:moveTo>
                  <a:lnTo>
                    <a:pt x="378485" y="0"/>
                  </a:lnTo>
                  <a:lnTo>
                    <a:pt x="378485" y="2856252"/>
                  </a:lnTo>
                  <a:lnTo>
                    <a:pt x="0" y="2856252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78485" cy="290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895709"/>
            <a:ext cx="14532221" cy="9682092"/>
          </a:xfrm>
          <a:custGeom>
            <a:avLst/>
            <a:gdLst/>
            <a:ahLst/>
            <a:cxnLst/>
            <a:rect l="l" t="t" r="r" b="b"/>
            <a:pathLst>
              <a:path w="14532221" h="9682092">
                <a:moveTo>
                  <a:pt x="0" y="0"/>
                </a:moveTo>
                <a:lnTo>
                  <a:pt x="14532221" y="0"/>
                </a:lnTo>
                <a:lnTo>
                  <a:pt x="14532221" y="9682092"/>
                </a:lnTo>
                <a:lnTo>
                  <a:pt x="0" y="9682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820533" y="0"/>
            <a:ext cx="7161137" cy="10741706"/>
            <a:chOff x="0" y="0"/>
            <a:chExt cx="406400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1130181">
            <a:off x="17164513" y="1767646"/>
            <a:ext cx="1978294" cy="12715651"/>
            <a:chOff x="0" y="0"/>
            <a:chExt cx="521032" cy="33489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1032" cy="3348978"/>
            </a:xfrm>
            <a:custGeom>
              <a:avLst/>
              <a:gdLst/>
              <a:ahLst/>
              <a:cxnLst/>
              <a:rect l="l" t="t" r="r" b="b"/>
              <a:pathLst>
                <a:path w="521032" h="3348978">
                  <a:moveTo>
                    <a:pt x="0" y="0"/>
                  </a:moveTo>
                  <a:lnTo>
                    <a:pt x="521032" y="0"/>
                  </a:lnTo>
                  <a:lnTo>
                    <a:pt x="521032" y="3348978"/>
                  </a:lnTo>
                  <a:lnTo>
                    <a:pt x="0" y="3348978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21032" cy="3396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482705" y="1861750"/>
            <a:ext cx="13141648" cy="4803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00"/>
              </a:lnSpc>
            </a:pPr>
            <a:r>
              <a:rPr lang="en-US" sz="17000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Presentasi</a:t>
            </a:r>
          </a:p>
          <a:p>
            <a:pPr algn="l">
              <a:lnSpc>
                <a:spcPts val="11900"/>
              </a:lnSpc>
            </a:pPr>
            <a:r>
              <a:rPr lang="en-US" sz="17000" b="1">
                <a:solidFill>
                  <a:srgbClr val="DA251C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Project</a:t>
            </a:r>
          </a:p>
          <a:p>
            <a:pPr algn="l">
              <a:lnSpc>
                <a:spcPts val="11900"/>
              </a:lnSpc>
            </a:pPr>
            <a:r>
              <a:rPr lang="en-US" sz="17000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Improvement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4722" y="6579802"/>
            <a:ext cx="6812106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Struktur Format PPT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2705" y="9153603"/>
            <a:ext cx="3548070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292929"/>
                </a:solidFill>
                <a:latin typeface="Arial Bold"/>
                <a:ea typeface="Arial Bold"/>
                <a:cs typeface="Arial Bold"/>
                <a:sym typeface="Arial Bold"/>
              </a:rPr>
              <a:t>People Development Center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80554" y="9153603"/>
            <a:ext cx="2839979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sz="1899" b="1">
                <a:solidFill>
                  <a:srgbClr val="292929"/>
                </a:solidFill>
                <a:latin typeface="Arial Bold"/>
                <a:ea typeface="Arial Bold"/>
                <a:cs typeface="Arial Bold"/>
                <a:sym typeface="Arial Bold"/>
              </a:rPr>
              <a:t>Tiga Serangkai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330480"/>
            <a:ext cx="1217019" cy="10844833"/>
            <a:chOff x="0" y="0"/>
            <a:chExt cx="320532" cy="2856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0532" cy="2856252"/>
            </a:xfrm>
            <a:custGeom>
              <a:avLst/>
              <a:gdLst/>
              <a:ahLst/>
              <a:cxnLst/>
              <a:rect l="l" t="t" r="r" b="b"/>
              <a:pathLst>
                <a:path w="320532" h="2856252">
                  <a:moveTo>
                    <a:pt x="0" y="0"/>
                  </a:moveTo>
                  <a:lnTo>
                    <a:pt x="320532" y="0"/>
                  </a:lnTo>
                  <a:lnTo>
                    <a:pt x="320532" y="2856252"/>
                  </a:lnTo>
                  <a:lnTo>
                    <a:pt x="0" y="2856252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20532" cy="290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995670" y="2081768"/>
            <a:ext cx="1013083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5670" y="3429397"/>
            <a:ext cx="1575202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03</a:t>
            </a:r>
          </a:p>
        </p:txBody>
      </p:sp>
      <p:sp>
        <p:nvSpPr>
          <p:cNvPr id="7" name="AutoShape 7"/>
          <p:cNvSpPr/>
          <p:nvPr/>
        </p:nvSpPr>
        <p:spPr>
          <a:xfrm>
            <a:off x="4881066" y="317698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4881066" y="460827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881066" y="603956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-863202" y="820545"/>
            <a:ext cx="5744268" cy="10066564"/>
          </a:xfrm>
          <a:custGeom>
            <a:avLst/>
            <a:gdLst/>
            <a:ahLst/>
            <a:cxnLst/>
            <a:rect l="l" t="t" r="r" b="b"/>
            <a:pathLst>
              <a:path w="5744268" h="10066564">
                <a:moveTo>
                  <a:pt x="0" y="0"/>
                </a:moveTo>
                <a:lnTo>
                  <a:pt x="5744268" y="0"/>
                </a:lnTo>
                <a:lnTo>
                  <a:pt x="5744268" y="10066564"/>
                </a:lnTo>
                <a:lnTo>
                  <a:pt x="0" y="1006656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995670" y="535543"/>
            <a:ext cx="866675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>
                <a:solidFill>
                  <a:srgbClr val="DA251C"/>
                </a:solidFill>
                <a:latin typeface="Garamond Bold"/>
                <a:ea typeface="Garamond Bold"/>
                <a:cs typeface="Garamond Bold"/>
                <a:sym typeface="Garamond Bold"/>
              </a:rPr>
              <a:t>Agenda Presentasi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95670" y="4860687"/>
            <a:ext cx="1575202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5670" y="6291977"/>
            <a:ext cx="1262914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94912" y="2091610"/>
            <a:ext cx="1898239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Judul Presentasi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94912" y="4870530"/>
            <a:ext cx="3159495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Solusi atau Inisiatif Perbaikan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4912" y="6301502"/>
            <a:ext cx="3796479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Target Dampak &amp; Indikator Keberhasilan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4912" y="3439240"/>
            <a:ext cx="2358563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Identifikasi Permasalahan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881066" y="7556580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4995670" y="7808992"/>
            <a:ext cx="1013083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4912" y="7813054"/>
            <a:ext cx="2781541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Relevansi terhadap Peran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995670" y="9345057"/>
            <a:ext cx="11155404" cy="455295"/>
            <a:chOff x="0" y="0"/>
            <a:chExt cx="14873872" cy="60706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24830" y="10901"/>
              <a:ext cx="13549042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733290" y="2081768"/>
            <a:ext cx="1013083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33290" y="3429397"/>
            <a:ext cx="1575202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04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618686" y="317698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0618686" y="460827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10618686" y="6039565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TextBox 29"/>
          <p:cNvSpPr txBox="1"/>
          <p:nvPr/>
        </p:nvSpPr>
        <p:spPr>
          <a:xfrm>
            <a:off x="10733290" y="4860687"/>
            <a:ext cx="1575202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733290" y="6291977"/>
            <a:ext cx="1262914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08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36898" y="2091610"/>
            <a:ext cx="3654583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Konteks Bisnis &amp; Masa Depan Perusahaan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32532" y="4870530"/>
            <a:ext cx="3159495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Rencana Implementasi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32532" y="6301502"/>
            <a:ext cx="3796479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Risiko dan Strategi Mitigasi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32532" y="3439240"/>
            <a:ext cx="2358563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Analisis Akar Masalah</a:t>
            </a:r>
          </a:p>
        </p:txBody>
      </p:sp>
      <p:sp>
        <p:nvSpPr>
          <p:cNvPr id="35" name="AutoShape 35"/>
          <p:cNvSpPr/>
          <p:nvPr/>
        </p:nvSpPr>
        <p:spPr>
          <a:xfrm>
            <a:off x="10618686" y="7556580"/>
            <a:ext cx="5172795" cy="0"/>
          </a:xfrm>
          <a:prstGeom prst="line">
            <a:avLst/>
          </a:prstGeom>
          <a:ln w="28575" cap="flat">
            <a:solidFill>
              <a:srgbClr val="A6C0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TextBox 36"/>
          <p:cNvSpPr txBox="1"/>
          <p:nvPr/>
        </p:nvSpPr>
        <p:spPr>
          <a:xfrm>
            <a:off x="10733290" y="7808992"/>
            <a:ext cx="1013083" cy="99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9"/>
              </a:lnSpc>
            </a:pPr>
            <a:r>
              <a:rPr lang="en-US" sz="6999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10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32532" y="7813054"/>
            <a:ext cx="2781541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Penutup dan Komitmen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6178" y="-227353"/>
            <a:ext cx="1224878" cy="10741706"/>
            <a:chOff x="0" y="0"/>
            <a:chExt cx="322601" cy="28290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2601" cy="2829091"/>
            </a:xfrm>
            <a:custGeom>
              <a:avLst/>
              <a:gdLst/>
              <a:ahLst/>
              <a:cxnLst/>
              <a:rect l="l" t="t" r="r" b="b"/>
              <a:pathLst>
                <a:path w="322601" h="2829091">
                  <a:moveTo>
                    <a:pt x="0" y="0"/>
                  </a:moveTo>
                  <a:lnTo>
                    <a:pt x="322601" y="0"/>
                  </a:lnTo>
                  <a:lnTo>
                    <a:pt x="322601" y="2829091"/>
                  </a:lnTo>
                  <a:lnTo>
                    <a:pt x="0" y="2829091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22601" cy="287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03214" y="8802214"/>
            <a:ext cx="456086" cy="456086"/>
          </a:xfrm>
          <a:custGeom>
            <a:avLst/>
            <a:gdLst/>
            <a:ahLst/>
            <a:cxnLst/>
            <a:rect l="l" t="t" r="r" b="b"/>
            <a:pathLst>
              <a:path w="456086" h="456086">
                <a:moveTo>
                  <a:pt x="0" y="0"/>
                </a:moveTo>
                <a:lnTo>
                  <a:pt x="456086" y="0"/>
                </a:lnTo>
                <a:lnTo>
                  <a:pt x="456086" y="456086"/>
                </a:lnTo>
                <a:lnTo>
                  <a:pt x="0" y="45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60274" y="4885689"/>
            <a:ext cx="9181609" cy="5628664"/>
          </a:xfrm>
          <a:custGeom>
            <a:avLst/>
            <a:gdLst/>
            <a:ahLst/>
            <a:cxnLst/>
            <a:rect l="l" t="t" r="r" b="b"/>
            <a:pathLst>
              <a:path w="9181609" h="5628664">
                <a:moveTo>
                  <a:pt x="0" y="0"/>
                </a:moveTo>
                <a:lnTo>
                  <a:pt x="9181610" y="0"/>
                </a:lnTo>
                <a:lnTo>
                  <a:pt x="9181610" y="5628664"/>
                </a:lnTo>
                <a:lnTo>
                  <a:pt x="0" y="562866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alphaModFix amt="8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13762" y="3787190"/>
            <a:ext cx="13381276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“Improvement Kinerja Operasional Gudang Hypermarket XYZ, Strategi Efisiensi &amp; Integrasi Digital”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53231" y="1441095"/>
            <a:ext cx="10004365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1.Judul Presentasi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3762" y="3080987"/>
            <a:ext cx="2071071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500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Contoh: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13762" y="6058567"/>
            <a:ext cx="6803611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Judul presentasi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Nama peserta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Posisi sekarang dan posisi target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Departemen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13762" y="5340382"/>
            <a:ext cx="1012660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500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Isi: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130181">
            <a:off x="17293361" y="2050029"/>
            <a:ext cx="2568968" cy="9303639"/>
            <a:chOff x="0" y="0"/>
            <a:chExt cx="676601" cy="2450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6601" cy="2450341"/>
            </a:xfrm>
            <a:custGeom>
              <a:avLst/>
              <a:gdLst/>
              <a:ahLst/>
              <a:cxnLst/>
              <a:rect l="l" t="t" r="r" b="b"/>
              <a:pathLst>
                <a:path w="676601" h="2450341">
                  <a:moveTo>
                    <a:pt x="0" y="0"/>
                  </a:moveTo>
                  <a:lnTo>
                    <a:pt x="676601" y="0"/>
                  </a:lnTo>
                  <a:lnTo>
                    <a:pt x="676601" y="2450341"/>
                  </a:lnTo>
                  <a:lnTo>
                    <a:pt x="0" y="2450341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76601" cy="2497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02578" y="3404776"/>
            <a:ext cx="6074315" cy="7036798"/>
            <a:chOff x="0" y="0"/>
            <a:chExt cx="962047" cy="11144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2047" cy="1114484"/>
            </a:xfrm>
            <a:custGeom>
              <a:avLst/>
              <a:gdLst/>
              <a:ahLst/>
              <a:cxnLst/>
              <a:rect l="l" t="t" r="r" b="b"/>
              <a:pathLst>
                <a:path w="962047" h="1114484">
                  <a:moveTo>
                    <a:pt x="0" y="0"/>
                  </a:moveTo>
                  <a:lnTo>
                    <a:pt x="962047" y="0"/>
                  </a:lnTo>
                  <a:lnTo>
                    <a:pt x="962047" y="1114484"/>
                  </a:lnTo>
                  <a:lnTo>
                    <a:pt x="0" y="1114484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1506300"/>
            <a:ext cx="16552804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2.Konteks Bisnis &amp; Arahan Masa Depan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99279" y="3404776"/>
            <a:ext cx="10270478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Sekilas tentang bisnis hypermarket saat ini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b="1">
                <a:solidFill>
                  <a:srgbClr val="DA251C"/>
                </a:solidFill>
                <a:latin typeface="Garamond Bold"/>
                <a:ea typeface="Garamond Bold"/>
                <a:cs typeface="Garamond Bold"/>
                <a:sym typeface="Garamond Bold"/>
              </a:rPr>
              <a:t>Tantangan industri</a:t>
            </a: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(persaingan harga, digitalisasi, logistik, SDM)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Hubungkan dengan strategi masa depan perusahaan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99279" y="6987529"/>
            <a:ext cx="974122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penguatan customer experience, efisiensi operasional, digital adoption, sustainability.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99279" y="6281326"/>
            <a:ext cx="2784872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500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Contoh: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399279" y="9345057"/>
            <a:ext cx="7943033" cy="455295"/>
            <a:chOff x="0" y="0"/>
            <a:chExt cx="10590711" cy="60706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50688" y="-227353"/>
            <a:ext cx="7161137" cy="10741706"/>
            <a:chOff x="0" y="0"/>
            <a:chExt cx="406400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609600"/>
            </a:xfrm>
            <a:custGeom>
              <a:avLst/>
              <a:gdLst/>
              <a:ahLst/>
              <a:cxnLst/>
              <a:rect l="l" t="t" r="r" b="b"/>
              <a:pathLst>
                <a:path w="406400" h="609600">
                  <a:moveTo>
                    <a:pt x="203200" y="0"/>
                  </a:moveTo>
                  <a:lnTo>
                    <a:pt x="406400" y="0"/>
                  </a:lnTo>
                  <a:lnTo>
                    <a:pt x="2032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33219" y="2464033"/>
            <a:ext cx="6547065" cy="6433307"/>
            <a:chOff x="0" y="0"/>
            <a:chExt cx="620379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0379" cy="609600"/>
            </a:xfrm>
            <a:custGeom>
              <a:avLst/>
              <a:gdLst/>
              <a:ahLst/>
              <a:cxnLst/>
              <a:rect l="l" t="t" r="r" b="b"/>
              <a:pathLst>
                <a:path w="620379" h="609600">
                  <a:moveTo>
                    <a:pt x="203200" y="0"/>
                  </a:moveTo>
                  <a:lnTo>
                    <a:pt x="620379" y="0"/>
                  </a:lnTo>
                  <a:lnTo>
                    <a:pt x="41717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1130181">
            <a:off x="17558508" y="6417013"/>
            <a:ext cx="1699911" cy="4960654"/>
            <a:chOff x="0" y="0"/>
            <a:chExt cx="447713" cy="13065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7713" cy="1306510"/>
            </a:xfrm>
            <a:custGeom>
              <a:avLst/>
              <a:gdLst/>
              <a:ahLst/>
              <a:cxnLst/>
              <a:rect l="l" t="t" r="r" b="b"/>
              <a:pathLst>
                <a:path w="447713" h="1306510">
                  <a:moveTo>
                    <a:pt x="0" y="0"/>
                  </a:moveTo>
                  <a:lnTo>
                    <a:pt x="447713" y="0"/>
                  </a:lnTo>
                  <a:lnTo>
                    <a:pt x="447713" y="1306510"/>
                  </a:lnTo>
                  <a:lnTo>
                    <a:pt x="0" y="1306510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7713" cy="1354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611180" y="-227353"/>
            <a:ext cx="1639880" cy="10741706"/>
            <a:chOff x="0" y="0"/>
            <a:chExt cx="431902" cy="28290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1902" cy="2829091"/>
            </a:xfrm>
            <a:custGeom>
              <a:avLst/>
              <a:gdLst/>
              <a:ahLst/>
              <a:cxnLst/>
              <a:rect l="l" t="t" r="r" b="b"/>
              <a:pathLst>
                <a:path w="431902" h="2829091">
                  <a:moveTo>
                    <a:pt x="0" y="0"/>
                  </a:moveTo>
                  <a:lnTo>
                    <a:pt x="431902" y="0"/>
                  </a:lnTo>
                  <a:lnTo>
                    <a:pt x="431902" y="2829091"/>
                  </a:lnTo>
                  <a:lnTo>
                    <a:pt x="0" y="2829091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31902" cy="287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3231" y="1308717"/>
            <a:ext cx="14865954" cy="175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3.Permasalahan yang Ditemukan (Problem Statement)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53231" y="3817407"/>
            <a:ext cx="7598561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Jelaskan masalah nyata yang terjadi di unitnya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Bisa dilihat dari data: keterlambatan pengiriman, overstock, antrian kasir, high turnover, Customer Complain, dll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Gunakan data, misal grafik sederhana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Gunakan format: Masalah – Dampak – Urgensi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130181">
            <a:off x="17327438" y="4543039"/>
            <a:ext cx="2241827" cy="6796301"/>
            <a:chOff x="0" y="0"/>
            <a:chExt cx="590440" cy="1789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440" cy="1789972"/>
            </a:xfrm>
            <a:custGeom>
              <a:avLst/>
              <a:gdLst/>
              <a:ahLst/>
              <a:cxnLst/>
              <a:rect l="l" t="t" r="r" b="b"/>
              <a:pathLst>
                <a:path w="590440" h="1789972">
                  <a:moveTo>
                    <a:pt x="0" y="0"/>
                  </a:moveTo>
                  <a:lnTo>
                    <a:pt x="590440" y="0"/>
                  </a:lnTo>
                  <a:lnTo>
                    <a:pt x="590440" y="1789972"/>
                  </a:lnTo>
                  <a:lnTo>
                    <a:pt x="0" y="1789972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90440" cy="1837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11180" y="-227353"/>
            <a:ext cx="1639880" cy="10741706"/>
            <a:chOff x="0" y="0"/>
            <a:chExt cx="431902" cy="2829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1902" cy="2829091"/>
            </a:xfrm>
            <a:custGeom>
              <a:avLst/>
              <a:gdLst/>
              <a:ahLst/>
              <a:cxnLst/>
              <a:rect l="l" t="t" r="r" b="b"/>
              <a:pathLst>
                <a:path w="431902" h="2829091">
                  <a:moveTo>
                    <a:pt x="0" y="0"/>
                  </a:moveTo>
                  <a:lnTo>
                    <a:pt x="431902" y="0"/>
                  </a:lnTo>
                  <a:lnTo>
                    <a:pt x="431902" y="2829091"/>
                  </a:lnTo>
                  <a:lnTo>
                    <a:pt x="0" y="2829091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1902" cy="287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857596" y="4055042"/>
            <a:ext cx="6830664" cy="5438916"/>
          </a:xfrm>
          <a:custGeom>
            <a:avLst/>
            <a:gdLst/>
            <a:ahLst/>
            <a:cxnLst/>
            <a:rect l="l" t="t" r="r" b="b"/>
            <a:pathLst>
              <a:path w="6830664" h="5438916">
                <a:moveTo>
                  <a:pt x="0" y="0"/>
                </a:moveTo>
                <a:lnTo>
                  <a:pt x="6830664" y="0"/>
                </a:lnTo>
                <a:lnTo>
                  <a:pt x="6830664" y="5438917"/>
                </a:lnTo>
                <a:lnTo>
                  <a:pt x="0" y="543891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53231" y="1610965"/>
            <a:ext cx="10004365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4.Analisis Akar Masalah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533749" y="3376211"/>
            <a:ext cx="7598561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Tools yang boleh digunakan: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Fishbone Diagram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5 Why’s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Pareto Chart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Observasi proses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3749" y="7206615"/>
            <a:ext cx="1000273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menunjukkan pemahaman mendalam, bukan asumsi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33749" y="6500411"/>
            <a:ext cx="2071071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500" b="1" dirty="0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Tujuan: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130181">
            <a:off x="17558508" y="6417013"/>
            <a:ext cx="1699911" cy="4960654"/>
            <a:chOff x="0" y="0"/>
            <a:chExt cx="447713" cy="13065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713" cy="1306510"/>
            </a:xfrm>
            <a:custGeom>
              <a:avLst/>
              <a:gdLst/>
              <a:ahLst/>
              <a:cxnLst/>
              <a:rect l="l" t="t" r="r" b="b"/>
              <a:pathLst>
                <a:path w="447713" h="1306510">
                  <a:moveTo>
                    <a:pt x="0" y="0"/>
                  </a:moveTo>
                  <a:lnTo>
                    <a:pt x="447713" y="0"/>
                  </a:lnTo>
                  <a:lnTo>
                    <a:pt x="447713" y="1306510"/>
                  </a:lnTo>
                  <a:lnTo>
                    <a:pt x="0" y="1306510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47713" cy="1354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11180" y="-227353"/>
            <a:ext cx="1639880" cy="10741706"/>
            <a:chOff x="0" y="0"/>
            <a:chExt cx="431902" cy="28290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1902" cy="2829091"/>
            </a:xfrm>
            <a:custGeom>
              <a:avLst/>
              <a:gdLst/>
              <a:ahLst/>
              <a:cxnLst/>
              <a:rect l="l" t="t" r="r" b="b"/>
              <a:pathLst>
                <a:path w="431902" h="2829091">
                  <a:moveTo>
                    <a:pt x="0" y="0"/>
                  </a:moveTo>
                  <a:lnTo>
                    <a:pt x="431902" y="0"/>
                  </a:lnTo>
                  <a:lnTo>
                    <a:pt x="431902" y="2829091"/>
                  </a:lnTo>
                  <a:lnTo>
                    <a:pt x="0" y="2829091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1902" cy="2876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567056" y="3982322"/>
            <a:ext cx="6012919" cy="5695944"/>
          </a:xfrm>
          <a:custGeom>
            <a:avLst/>
            <a:gdLst/>
            <a:ahLst/>
            <a:cxnLst/>
            <a:rect l="l" t="t" r="r" b="b"/>
            <a:pathLst>
              <a:path w="6012919" h="5695944">
                <a:moveTo>
                  <a:pt x="0" y="0"/>
                </a:moveTo>
                <a:lnTo>
                  <a:pt x="6012919" y="0"/>
                </a:lnTo>
                <a:lnTo>
                  <a:pt x="6012919" y="5695944"/>
                </a:lnTo>
                <a:lnTo>
                  <a:pt x="0" y="569594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53231" y="1610965"/>
            <a:ext cx="14563776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5.</a:t>
            </a:r>
            <a:r>
              <a:rPr lang="en-US" sz="6999" b="1">
                <a:solidFill>
                  <a:srgbClr val="DA251C"/>
                </a:solidFill>
                <a:latin typeface="Garamond Bold"/>
                <a:ea typeface="Garamond Bold"/>
                <a:cs typeface="Garamond Bold"/>
                <a:sym typeface="Garamond Bold"/>
              </a:rPr>
              <a:t>Solusi</a:t>
            </a: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 atau Inisiatif yang Diusulkan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33749" y="3133310"/>
            <a:ext cx="1148498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Jelaskan 1–2 solusi kunci</a:t>
            </a:r>
          </a:p>
          <a:p>
            <a:pPr algn="l">
              <a:lnSpc>
                <a:spcPts val="4199"/>
              </a:lnSpc>
            </a:pPr>
            <a:r>
              <a:rPr lang="en-US" sz="34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Pastikansolusi relevan, feasible, dan berdampak ke KPI unit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3749" y="5392088"/>
            <a:ext cx="9274032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Optimalisasi sistem restock dengan data penjualan harian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Digitalisasi checklist inventory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Pelatihan kasir untuk efisiensi jam sibuk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33749" y="4685885"/>
            <a:ext cx="2071071" cy="59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500" b="1">
                <a:solidFill>
                  <a:srgbClr val="62929E"/>
                </a:solidFill>
                <a:latin typeface="Garamond Bold"/>
                <a:ea typeface="Garamond Bold"/>
                <a:cs typeface="Garamond Bold"/>
                <a:sym typeface="Garamond Bold"/>
              </a:rPr>
              <a:t>Contoh: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8089" y="4862448"/>
            <a:ext cx="18518811" cy="4182667"/>
          </a:xfrm>
          <a:custGeom>
            <a:avLst/>
            <a:gdLst/>
            <a:ahLst/>
            <a:cxnLst/>
            <a:rect l="l" t="t" r="r" b="b"/>
            <a:pathLst>
              <a:path w="18518811" h="4182667">
                <a:moveTo>
                  <a:pt x="0" y="0"/>
                </a:moveTo>
                <a:lnTo>
                  <a:pt x="18518811" y="0"/>
                </a:lnTo>
                <a:lnTo>
                  <a:pt x="18518811" y="4182668"/>
                </a:lnTo>
                <a:lnTo>
                  <a:pt x="0" y="418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181100"/>
            <a:ext cx="16552804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6.Rencana Implementasi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7904" y="2428367"/>
            <a:ext cx="8078360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Timeline (bulan-bulan atau kuartal)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Tahapan: quick win vs jangka panjang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Resource yang dibutuhkan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Siapa yang terlibat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9486343"/>
            <a:ext cx="456086" cy="456086"/>
          </a:xfrm>
          <a:custGeom>
            <a:avLst/>
            <a:gdLst/>
            <a:ahLst/>
            <a:cxnLst/>
            <a:rect l="l" t="t" r="r" b="b"/>
            <a:pathLst>
              <a:path w="456086" h="456086">
                <a:moveTo>
                  <a:pt x="0" y="0"/>
                </a:moveTo>
                <a:lnTo>
                  <a:pt x="456086" y="0"/>
                </a:lnTo>
                <a:lnTo>
                  <a:pt x="456086" y="456086"/>
                </a:lnTo>
                <a:lnTo>
                  <a:pt x="0" y="45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12424" y="-1443657"/>
            <a:ext cx="2905965" cy="11958010"/>
            <a:chOff x="0" y="0"/>
            <a:chExt cx="765357" cy="31494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65357" cy="3149435"/>
            </a:xfrm>
            <a:custGeom>
              <a:avLst/>
              <a:gdLst/>
              <a:ahLst/>
              <a:cxnLst/>
              <a:rect l="l" t="t" r="r" b="b"/>
              <a:pathLst>
                <a:path w="765357" h="3149435">
                  <a:moveTo>
                    <a:pt x="0" y="0"/>
                  </a:moveTo>
                  <a:lnTo>
                    <a:pt x="765357" y="0"/>
                  </a:lnTo>
                  <a:lnTo>
                    <a:pt x="765357" y="3149435"/>
                  </a:lnTo>
                  <a:lnTo>
                    <a:pt x="0" y="3149435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765357" cy="3197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995002" y="4449345"/>
            <a:ext cx="8522125" cy="5837655"/>
          </a:xfrm>
          <a:custGeom>
            <a:avLst/>
            <a:gdLst/>
            <a:ahLst/>
            <a:cxnLst/>
            <a:rect l="l" t="t" r="r" b="b"/>
            <a:pathLst>
              <a:path w="8522125" h="5837655">
                <a:moveTo>
                  <a:pt x="0" y="0"/>
                </a:moveTo>
                <a:lnTo>
                  <a:pt x="8522124" y="0"/>
                </a:lnTo>
                <a:lnTo>
                  <a:pt x="8522124" y="5837655"/>
                </a:lnTo>
                <a:lnTo>
                  <a:pt x="0" y="583765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853231" y="9345057"/>
            <a:ext cx="7943033" cy="455295"/>
            <a:chOff x="0" y="0"/>
            <a:chExt cx="10590711" cy="607060"/>
          </a:xfrm>
        </p:grpSpPr>
        <p:sp>
          <p:nvSpPr>
            <p:cNvPr id="8" name="TextBox 8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800733"/>
            <a:ext cx="16552804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7.Target Dampak &amp; Pengukuran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7904" y="3833812"/>
            <a:ext cx="8078360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Indikator keberhasilan (KPI)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Target: hemat waktu 20%, kurangi turnover 15%, tingkatkan kepuasan pelanggan, dll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Tools evaluasi: survei, laporan, dashboard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44304" y="-282228"/>
            <a:ext cx="2875576" cy="11958010"/>
            <a:chOff x="0" y="0"/>
            <a:chExt cx="757353" cy="31494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7353" cy="3149435"/>
            </a:xfrm>
            <a:custGeom>
              <a:avLst/>
              <a:gdLst/>
              <a:ahLst/>
              <a:cxnLst/>
              <a:rect l="l" t="t" r="r" b="b"/>
              <a:pathLst>
                <a:path w="757353" h="3149435">
                  <a:moveTo>
                    <a:pt x="0" y="0"/>
                  </a:moveTo>
                  <a:lnTo>
                    <a:pt x="757353" y="0"/>
                  </a:lnTo>
                  <a:lnTo>
                    <a:pt x="757353" y="3149435"/>
                  </a:lnTo>
                  <a:lnTo>
                    <a:pt x="0" y="3149435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57353" cy="3197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444517" y="2986507"/>
            <a:ext cx="5435246" cy="5782177"/>
          </a:xfrm>
          <a:custGeom>
            <a:avLst/>
            <a:gdLst/>
            <a:ahLst/>
            <a:cxnLst/>
            <a:rect l="l" t="t" r="r" b="b"/>
            <a:pathLst>
              <a:path w="5435246" h="5782177">
                <a:moveTo>
                  <a:pt x="0" y="0"/>
                </a:moveTo>
                <a:lnTo>
                  <a:pt x="5435246" y="0"/>
                </a:lnTo>
                <a:lnTo>
                  <a:pt x="5435246" y="5782177"/>
                </a:lnTo>
                <a:lnTo>
                  <a:pt x="0" y="578217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726444" y="9345057"/>
            <a:ext cx="7943033" cy="455295"/>
            <a:chOff x="0" y="0"/>
            <a:chExt cx="10590711" cy="607060"/>
          </a:xfrm>
        </p:grpSpPr>
        <p:sp>
          <p:nvSpPr>
            <p:cNvPr id="8" name="TextBox 8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726444" y="1610965"/>
            <a:ext cx="10004365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8.Risiko &amp; Mitigasi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65399" y="4801271"/>
            <a:ext cx="733082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Hambatan apa yang mungkin muncul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Bagaimana cara mengatasinya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444517" y="251520"/>
            <a:ext cx="2145655" cy="777180"/>
            <a:chOff x="0" y="0"/>
            <a:chExt cx="2860873" cy="103624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8360" y="-278917"/>
            <a:ext cx="1437060" cy="10844833"/>
            <a:chOff x="0" y="0"/>
            <a:chExt cx="378485" cy="2856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8485" cy="2856252"/>
            </a:xfrm>
            <a:custGeom>
              <a:avLst/>
              <a:gdLst/>
              <a:ahLst/>
              <a:cxnLst/>
              <a:rect l="l" t="t" r="r" b="b"/>
              <a:pathLst>
                <a:path w="378485" h="2856252">
                  <a:moveTo>
                    <a:pt x="0" y="0"/>
                  </a:moveTo>
                  <a:lnTo>
                    <a:pt x="378485" y="0"/>
                  </a:lnTo>
                  <a:lnTo>
                    <a:pt x="378485" y="2856252"/>
                  </a:lnTo>
                  <a:lnTo>
                    <a:pt x="0" y="2856252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78485" cy="2903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06587" y="-227353"/>
            <a:ext cx="9208203" cy="10741706"/>
            <a:chOff x="0" y="0"/>
            <a:chExt cx="522573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2573" cy="609600"/>
            </a:xfrm>
            <a:custGeom>
              <a:avLst/>
              <a:gdLst/>
              <a:ahLst/>
              <a:cxnLst/>
              <a:rect l="l" t="t" r="r" b="b"/>
              <a:pathLst>
                <a:path w="522573" h="609600">
                  <a:moveTo>
                    <a:pt x="203200" y="0"/>
                  </a:moveTo>
                  <a:lnTo>
                    <a:pt x="522573" y="0"/>
                  </a:lnTo>
                  <a:lnTo>
                    <a:pt x="31937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1130181">
            <a:off x="17034906" y="-511939"/>
            <a:ext cx="3260590" cy="12715651"/>
            <a:chOff x="0" y="0"/>
            <a:chExt cx="858756" cy="33489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8756" cy="3348978"/>
            </a:xfrm>
            <a:custGeom>
              <a:avLst/>
              <a:gdLst/>
              <a:ahLst/>
              <a:cxnLst/>
              <a:rect l="l" t="t" r="r" b="b"/>
              <a:pathLst>
                <a:path w="858756" h="3348978">
                  <a:moveTo>
                    <a:pt x="0" y="0"/>
                  </a:moveTo>
                  <a:lnTo>
                    <a:pt x="858756" y="0"/>
                  </a:lnTo>
                  <a:lnTo>
                    <a:pt x="858756" y="3348978"/>
                  </a:lnTo>
                  <a:lnTo>
                    <a:pt x="0" y="3348978"/>
                  </a:lnTo>
                  <a:close/>
                </a:path>
              </a:pathLst>
            </a:custGeom>
            <a:solidFill>
              <a:srgbClr val="62929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58756" cy="3396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44429" y="1920112"/>
            <a:ext cx="10777234" cy="1756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9.Relevansi Proyek terhadap     Peran Posisi yang dituju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44429" y="9345057"/>
            <a:ext cx="7943033" cy="455295"/>
            <a:chOff x="0" y="0"/>
            <a:chExt cx="10590711" cy="60706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7904" y="4712855"/>
            <a:ext cx="8078360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AutoNum type="arabicPeriod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Tunjukkan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bagaimana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proyek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ini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melatih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leadership &amp; decision-making</a:t>
            </a:r>
          </a:p>
          <a:p>
            <a:pPr marL="755646" lvl="1" indent="-377823" algn="l">
              <a:lnSpc>
                <a:spcPts val="4199"/>
              </a:lnSpc>
              <a:buAutoNum type="arabicPeriod"/>
            </a:pP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Apa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pelajaran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yang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dipetik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dan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bagaimana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akan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membawa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pembelajaran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ini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saat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menjadi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(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Posisi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yang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dituju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71293" y="251520"/>
            <a:ext cx="2145655" cy="777180"/>
            <a:chOff x="0" y="0"/>
            <a:chExt cx="2860873" cy="103624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64684" y="1183274"/>
            <a:ext cx="8109743" cy="9785512"/>
          </a:xfrm>
          <a:custGeom>
            <a:avLst/>
            <a:gdLst/>
            <a:ahLst/>
            <a:cxnLst/>
            <a:rect l="l" t="t" r="r" b="b"/>
            <a:pathLst>
              <a:path w="8109743" h="9785512">
                <a:moveTo>
                  <a:pt x="0" y="0"/>
                </a:moveTo>
                <a:lnTo>
                  <a:pt x="8109744" y="0"/>
                </a:lnTo>
                <a:lnTo>
                  <a:pt x="8109744" y="9785512"/>
                </a:lnTo>
                <a:lnTo>
                  <a:pt x="0" y="978551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9953" y="4350858"/>
            <a:ext cx="9399205" cy="6273970"/>
          </a:xfrm>
          <a:custGeom>
            <a:avLst/>
            <a:gdLst/>
            <a:ahLst/>
            <a:cxnLst/>
            <a:rect l="l" t="t" r="r" b="b"/>
            <a:pathLst>
              <a:path w="9399205" h="6273970">
                <a:moveTo>
                  <a:pt x="0" y="0"/>
                </a:moveTo>
                <a:lnTo>
                  <a:pt x="9399206" y="0"/>
                </a:lnTo>
                <a:lnTo>
                  <a:pt x="9399206" y="6273970"/>
                </a:lnTo>
                <a:lnTo>
                  <a:pt x="0" y="627397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4429" y="9345057"/>
            <a:ext cx="7943033" cy="455295"/>
            <a:chOff x="0" y="0"/>
            <a:chExt cx="10590711" cy="607060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44429" y="1920112"/>
            <a:ext cx="10777234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10.Penutup / Call to 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7904" y="4344593"/>
            <a:ext cx="8078360" cy="314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Ringkasan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nilai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dari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proyek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ini</a:t>
            </a:r>
            <a:endParaRPr lang="en-US" sz="3499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Komitmen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pribadi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untuk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membawa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perusahaan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ke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masa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depan</a:t>
            </a:r>
            <a:endParaRPr lang="en-US" sz="3499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Bisa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akhiri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dengan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kutipan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visi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atau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komitmen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pribadi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sebagai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calon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(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Posisi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yang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dituju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70319" y="5011008"/>
            <a:ext cx="7622456" cy="5446147"/>
          </a:xfrm>
          <a:custGeom>
            <a:avLst/>
            <a:gdLst/>
            <a:ahLst/>
            <a:cxnLst/>
            <a:rect l="l" t="t" r="r" b="b"/>
            <a:pathLst>
              <a:path w="7622456" h="5446147">
                <a:moveTo>
                  <a:pt x="0" y="0"/>
                </a:moveTo>
                <a:lnTo>
                  <a:pt x="7622456" y="0"/>
                </a:lnTo>
                <a:lnTo>
                  <a:pt x="7622456" y="5446147"/>
                </a:lnTo>
                <a:lnTo>
                  <a:pt x="0" y="5446147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44429" y="2173899"/>
            <a:ext cx="16552804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 b="1" dirty="0" err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Catatan</a:t>
            </a:r>
            <a:r>
              <a:rPr lang="en-US" sz="6999" b="1" dirty="0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 Tambahan </a:t>
            </a:r>
            <a:r>
              <a:rPr lang="en-US" sz="6999" b="1" dirty="0" err="1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Untuk</a:t>
            </a:r>
            <a:r>
              <a:rPr lang="en-US" sz="6999" b="1" dirty="0">
                <a:solidFill>
                  <a:srgbClr val="292929"/>
                </a:solidFill>
                <a:latin typeface="Garamond Bold"/>
                <a:ea typeface="Garamond Bold"/>
                <a:cs typeface="Garamond Bold"/>
                <a:sym typeface="Garamond Bold"/>
              </a:rPr>
              <a:t> Talent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4429" y="3967621"/>
            <a:ext cx="10395171" cy="2684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Gunakan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data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asli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dari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unitnya</a:t>
            </a:r>
            <a:endParaRPr lang="en-US" sz="3499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Boleh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konsultasi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ke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tim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lain (cross-learning)</a:t>
            </a: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Tampilkan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sikap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ownership &amp;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pemikiran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strategis</a:t>
            </a:r>
            <a:endParaRPr lang="en-US" sz="3499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 algn="l">
              <a:lnSpc>
                <a:spcPts val="4199"/>
              </a:lnSpc>
              <a:buFont typeface="Arial"/>
              <a:buChar char="•"/>
            </a:pP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Direksi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tidak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hanya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menilai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solusi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,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tapi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cara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berpikir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dan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cara</a:t>
            </a:r>
            <a:r>
              <a:rPr lang="en-US" sz="3499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499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menyampaikan</a:t>
            </a:r>
            <a:endParaRPr lang="en-US" sz="3499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44429" y="9345057"/>
            <a:ext cx="7943033" cy="455295"/>
            <a:chOff x="0" y="0"/>
            <a:chExt cx="10590711" cy="607060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 dirty="0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 dirty="0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575F1-4D80-A428-AAC3-DDE5AA24B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6FF40DD-885C-7F6D-FB7F-B249ABFC3DA3}"/>
              </a:ext>
            </a:extLst>
          </p:cNvPr>
          <p:cNvSpPr txBox="1"/>
          <p:nvPr/>
        </p:nvSpPr>
        <p:spPr>
          <a:xfrm>
            <a:off x="1644429" y="1226388"/>
            <a:ext cx="16552804" cy="90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id-ID" sz="7000" dirty="0">
                <a:latin typeface="Garamond Bold" panose="02020804030307010803" pitchFamily="18" charset="0"/>
              </a:rPr>
              <a:t>Panduan Optimasi File</a:t>
            </a:r>
            <a:endParaRPr lang="en-US" sz="7000" b="1" dirty="0">
              <a:solidFill>
                <a:srgbClr val="292929"/>
              </a:solidFill>
              <a:latin typeface="Garamond Bold" panose="02020804030307010803" pitchFamily="18" charset="0"/>
              <a:ea typeface="Garamond Bold"/>
              <a:cs typeface="Garamond Bold"/>
              <a:sym typeface="Garamond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A275920-541E-E67E-B3DA-5A86306AC6B2}"/>
              </a:ext>
            </a:extLst>
          </p:cNvPr>
          <p:cNvSpPr txBox="1"/>
          <p:nvPr/>
        </p:nvSpPr>
        <p:spPr>
          <a:xfrm>
            <a:off x="1475276" y="3319511"/>
            <a:ext cx="10107124" cy="2127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Buka:</a:t>
            </a:r>
            <a:r>
              <a:rPr lang="id-ID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https://www.ilovepdf.com/id/mengompres-pdf</a:t>
            </a: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Upload file PDF</a:t>
            </a: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Pilih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tingkat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kompresi</a:t>
            </a:r>
            <a:endParaRPr lang="en-US" sz="3000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Download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hasil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kompresi</a:t>
            </a:r>
            <a:endParaRPr lang="en-US" sz="3000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518FC2A-D55B-6654-0650-F32576B06F5B}"/>
              </a:ext>
            </a:extLst>
          </p:cNvPr>
          <p:cNvGrpSpPr/>
          <p:nvPr/>
        </p:nvGrpSpPr>
        <p:grpSpPr>
          <a:xfrm>
            <a:off x="1644429" y="9345057"/>
            <a:ext cx="7943033" cy="455295"/>
            <a:chOff x="0" y="0"/>
            <a:chExt cx="10590711" cy="607060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98719EC-0253-A848-3E81-1B4C2596DD8A}"/>
                </a:ext>
              </a:extLst>
            </p:cNvPr>
            <p:cNvSpPr txBox="1"/>
            <p:nvPr/>
          </p:nvSpPr>
          <p:spPr>
            <a:xfrm>
              <a:off x="0" y="-19050"/>
              <a:ext cx="1622324" cy="626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690"/>
                </a:lnSpc>
              </a:pPr>
              <a:r>
                <a:rPr lang="en-US" sz="3000" b="1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PDC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0D1390E-65DE-EDF6-E667-E8C7706FCD7A}"/>
                </a:ext>
              </a:extLst>
            </p:cNvPr>
            <p:cNvSpPr txBox="1"/>
            <p:nvPr/>
          </p:nvSpPr>
          <p:spPr>
            <a:xfrm>
              <a:off x="1324830" y="10901"/>
              <a:ext cx="9265881" cy="516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60"/>
                </a:lnSpc>
              </a:pPr>
              <a:r>
                <a:rPr lang="en-US" sz="1200" b="1" dirty="0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document is confidential and contains proprietary information and intellectual property of </a:t>
              </a:r>
            </a:p>
            <a:p>
              <a:pPr algn="just">
                <a:lnSpc>
                  <a:spcPts val="1560"/>
                </a:lnSpc>
              </a:pPr>
              <a:r>
                <a:rPr lang="en-US" sz="1200" b="1" dirty="0">
                  <a:solidFill>
                    <a:srgbClr val="739DA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TIGA SERANGKAI GROUP © 2026. Not for distribution.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A1211C6-92DB-9B41-08BC-7CB6FE4DDEDE}"/>
              </a:ext>
            </a:extLst>
          </p:cNvPr>
          <p:cNvGrpSpPr/>
          <p:nvPr/>
        </p:nvGrpSpPr>
        <p:grpSpPr>
          <a:xfrm>
            <a:off x="1028700" y="251520"/>
            <a:ext cx="2145655" cy="777180"/>
            <a:chOff x="0" y="0"/>
            <a:chExt cx="2860873" cy="1036240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8DC32568-B3A9-E382-59AE-913F00F31790}"/>
                </a:ext>
              </a:extLst>
            </p:cNvPr>
            <p:cNvGrpSpPr/>
            <p:nvPr/>
          </p:nvGrpSpPr>
          <p:grpSpPr>
            <a:xfrm>
              <a:off x="0" y="0"/>
              <a:ext cx="2860873" cy="1036240"/>
              <a:chOff x="0" y="0"/>
              <a:chExt cx="565111" cy="204689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78ACBAFF-F47B-9067-E780-3FC88EE6A76E}"/>
                  </a:ext>
                </a:extLst>
              </p:cNvPr>
              <p:cNvSpPr/>
              <p:nvPr/>
            </p:nvSpPr>
            <p:spPr>
              <a:xfrm>
                <a:off x="0" y="0"/>
                <a:ext cx="565111" cy="204689"/>
              </a:xfrm>
              <a:custGeom>
                <a:avLst/>
                <a:gdLst/>
                <a:ahLst/>
                <a:cxnLst/>
                <a:rect l="l" t="t" r="r" b="b"/>
                <a:pathLst>
                  <a:path w="565111" h="204689">
                    <a:moveTo>
                      <a:pt x="54123" y="0"/>
                    </a:moveTo>
                    <a:lnTo>
                      <a:pt x="510988" y="0"/>
                    </a:lnTo>
                    <a:cubicBezTo>
                      <a:pt x="525342" y="0"/>
                      <a:pt x="539109" y="5702"/>
                      <a:pt x="549259" y="15852"/>
                    </a:cubicBezTo>
                    <a:cubicBezTo>
                      <a:pt x="559409" y="26002"/>
                      <a:pt x="565111" y="39769"/>
                      <a:pt x="565111" y="54123"/>
                    </a:cubicBezTo>
                    <a:lnTo>
                      <a:pt x="565111" y="150567"/>
                    </a:lnTo>
                    <a:cubicBezTo>
                      <a:pt x="565111" y="180458"/>
                      <a:pt x="540879" y="204689"/>
                      <a:pt x="510988" y="204689"/>
                    </a:cubicBezTo>
                    <a:lnTo>
                      <a:pt x="54123" y="204689"/>
                    </a:lnTo>
                    <a:cubicBezTo>
                      <a:pt x="24232" y="204689"/>
                      <a:pt x="0" y="180458"/>
                      <a:pt x="0" y="150567"/>
                    </a:cubicBezTo>
                    <a:lnTo>
                      <a:pt x="0" y="54123"/>
                    </a:lnTo>
                    <a:cubicBezTo>
                      <a:pt x="0" y="24232"/>
                      <a:pt x="24232" y="0"/>
                      <a:pt x="54123" y="0"/>
                    </a:cubicBezTo>
                    <a:close/>
                  </a:path>
                </a:pathLst>
              </a:custGeom>
              <a:ln cap="sq">
                <a:noFill/>
                <a:prstDash val="solid"/>
                <a:miter/>
              </a:ln>
            </p:spPr>
          </p:sp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134BB722-7081-85DA-F40F-A393C68E66B4}"/>
                  </a:ext>
                </a:extLst>
              </p:cNvPr>
              <p:cNvSpPr txBox="1"/>
              <p:nvPr/>
            </p:nvSpPr>
            <p:spPr>
              <a:xfrm>
                <a:off x="0" y="-66675"/>
                <a:ext cx="565111" cy="2713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56021CF-8861-D4EB-A8C1-E7DCE986D857}"/>
                </a:ext>
              </a:extLst>
            </p:cNvPr>
            <p:cNvSpPr/>
            <p:nvPr/>
          </p:nvSpPr>
          <p:spPr>
            <a:xfrm>
              <a:off x="109850" y="137987"/>
              <a:ext cx="2543464" cy="821430"/>
            </a:xfrm>
            <a:custGeom>
              <a:avLst/>
              <a:gdLst/>
              <a:ahLst/>
              <a:cxnLst/>
              <a:rect l="l" t="t" r="r" b="b"/>
              <a:pathLst>
                <a:path w="2543464" h="821430">
                  <a:moveTo>
                    <a:pt x="0" y="0"/>
                  </a:moveTo>
                  <a:lnTo>
                    <a:pt x="2543464" y="0"/>
                  </a:lnTo>
                  <a:lnTo>
                    <a:pt x="2543464" y="821430"/>
                  </a:lnTo>
                  <a:lnTo>
                    <a:pt x="0" y="82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9">
            <a:extLst>
              <a:ext uri="{FF2B5EF4-FFF2-40B4-BE49-F238E27FC236}">
                <a16:creationId xmlns:a16="http://schemas.microsoft.com/office/drawing/2014/main" id="{93295D54-CABA-8467-92F2-7BE5266DFBDC}"/>
              </a:ext>
            </a:extLst>
          </p:cNvPr>
          <p:cNvSpPr txBox="1"/>
          <p:nvPr/>
        </p:nvSpPr>
        <p:spPr>
          <a:xfrm>
            <a:off x="1672469" y="2540969"/>
            <a:ext cx="4984971" cy="584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id-ID" sz="4500" dirty="0">
                <a:solidFill>
                  <a:srgbClr val="62929E"/>
                </a:solidFill>
                <a:latin typeface="Garamond Bold" panose="02020804030307010803" pitchFamily="18" charset="0"/>
              </a:rPr>
              <a:t>Kompres File PDF:</a:t>
            </a:r>
            <a:endParaRPr lang="en-US" sz="4500" b="1" dirty="0">
              <a:solidFill>
                <a:srgbClr val="62929E"/>
              </a:solidFill>
              <a:latin typeface="Garamond Bold" panose="02020804030307010803" pitchFamily="18" charset="0"/>
              <a:ea typeface="Garamond Bold"/>
              <a:cs typeface="Garamond Bold"/>
              <a:sym typeface="Garamond Bold"/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289486F-3783-8627-FDEB-3ECD287790F6}"/>
              </a:ext>
            </a:extLst>
          </p:cNvPr>
          <p:cNvSpPr txBox="1"/>
          <p:nvPr/>
        </p:nvSpPr>
        <p:spPr>
          <a:xfrm>
            <a:off x="1672469" y="5937826"/>
            <a:ext cx="6934200" cy="586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id-ID" sz="4500" dirty="0">
                <a:solidFill>
                  <a:srgbClr val="62929E"/>
                </a:solidFill>
                <a:latin typeface="Garamond Bold" panose="02020804030307010803" pitchFamily="18" charset="0"/>
              </a:rPr>
              <a:t>Kecilkan Ukuran Gambar:</a:t>
            </a:r>
            <a:endParaRPr lang="en-US" sz="4500" b="1" dirty="0">
              <a:solidFill>
                <a:srgbClr val="62929E"/>
              </a:solidFill>
              <a:latin typeface="Garamond Bold" panose="02020804030307010803" pitchFamily="18" charset="0"/>
              <a:ea typeface="Garamond Bold"/>
              <a:cs typeface="Garamond Bold"/>
              <a:sym typeface="Garamond Bold"/>
            </a:endParaRPr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B1D61B36-7FF8-8C1E-C454-E167D31BC5B1}"/>
              </a:ext>
            </a:extLst>
          </p:cNvPr>
          <p:cNvSpPr txBox="1"/>
          <p:nvPr/>
        </p:nvSpPr>
        <p:spPr>
          <a:xfrm>
            <a:off x="1475276" y="6644322"/>
            <a:ext cx="9473163" cy="2127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Buka:</a:t>
            </a:r>
            <a:r>
              <a:rPr lang="id-ID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  <a:hlinkClick r:id="rId3"/>
              </a:rPr>
              <a:t>https://www.iloveimg.com/id/kompres-gambar</a:t>
            </a:r>
            <a:endParaRPr lang="id-ID" sz="3000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Upload file </a:t>
            </a:r>
            <a:r>
              <a:rPr lang="id-ID" sz="3000" dirty="0">
                <a:latin typeface="Garamond" panose="02020404030301010803" pitchFamily="18" charset="0"/>
              </a:rPr>
              <a:t>gambar (PNG/JPG/WebP)</a:t>
            </a:r>
            <a:endParaRPr lang="en-US" sz="3000" dirty="0">
              <a:solidFill>
                <a:srgbClr val="292929"/>
              </a:solidFill>
              <a:latin typeface="Garamond" panose="02020404030301010803" pitchFamily="18" charset="0"/>
              <a:ea typeface="Garamond"/>
              <a:cs typeface="Garamond"/>
              <a:sym typeface="Garamond"/>
            </a:endParaRP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id-ID" sz="3000" dirty="0">
                <a:latin typeface="Garamond" panose="02020404030301010803" pitchFamily="18" charset="0"/>
              </a:rPr>
              <a:t>Tunggu proses kompresi</a:t>
            </a:r>
          </a:p>
          <a:p>
            <a:pPr marL="755646" lvl="1" indent="-377823">
              <a:lnSpc>
                <a:spcPts val="4199"/>
              </a:lnSpc>
              <a:buFont typeface="Arial"/>
              <a:buChar char="•"/>
            </a:pP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Download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hasil</a:t>
            </a:r>
            <a:r>
              <a:rPr lang="en-US" sz="3000" dirty="0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3000" dirty="0" err="1">
                <a:solidFill>
                  <a:srgbClr val="292929"/>
                </a:solidFill>
                <a:latin typeface="Garamond"/>
                <a:ea typeface="Garamond"/>
                <a:cs typeface="Garamond"/>
                <a:sym typeface="Garamond"/>
              </a:rPr>
              <a:t>kompresi</a:t>
            </a:r>
            <a:endParaRPr lang="en-US" sz="3000" dirty="0">
              <a:solidFill>
                <a:srgbClr val="29292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" name="Freeform 2">
            <a:extLst>
              <a:ext uri="{FF2B5EF4-FFF2-40B4-BE49-F238E27FC236}">
                <a16:creationId xmlns:a16="http://schemas.microsoft.com/office/drawing/2014/main" id="{07E5BD0D-04E5-6C86-BA05-0E7A2A934B2E}"/>
              </a:ext>
            </a:extLst>
          </p:cNvPr>
          <p:cNvSpPr/>
          <p:nvPr/>
        </p:nvSpPr>
        <p:spPr>
          <a:xfrm>
            <a:off x="10770319" y="5011008"/>
            <a:ext cx="7622456" cy="5446147"/>
          </a:xfrm>
          <a:custGeom>
            <a:avLst/>
            <a:gdLst/>
            <a:ahLst/>
            <a:cxnLst/>
            <a:rect l="l" t="t" r="r" b="b"/>
            <a:pathLst>
              <a:path w="7622456" h="5446147">
                <a:moveTo>
                  <a:pt x="0" y="0"/>
                </a:moveTo>
                <a:lnTo>
                  <a:pt x="7622456" y="0"/>
                </a:lnTo>
                <a:lnTo>
                  <a:pt x="7622456" y="5446147"/>
                </a:lnTo>
                <a:lnTo>
                  <a:pt x="0" y="5446147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4447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787</Words>
  <Application>Microsoft Office PowerPoint</Application>
  <PresentationFormat>Custom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Bold</vt:lpstr>
      <vt:lpstr>Garamond</vt:lpstr>
      <vt:lpstr>Garamond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Presentasi Suksesi 2 - PPT</dc:title>
  <dc:creator>jode</dc:creator>
  <cp:lastModifiedBy>Administrator</cp:lastModifiedBy>
  <cp:revision>4</cp:revision>
  <dcterms:created xsi:type="dcterms:W3CDTF">2006-08-16T00:00:00Z</dcterms:created>
  <dcterms:modified xsi:type="dcterms:W3CDTF">2026-06-10T07:16:00Z</dcterms:modified>
  <dc:identifier>DAHL74HVVzk</dc:identifier>
</cp:coreProperties>
</file>